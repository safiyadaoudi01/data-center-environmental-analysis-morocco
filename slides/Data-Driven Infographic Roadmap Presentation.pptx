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DM Sans" charset="1" panose="00000000000000000000"/>
      <p:regular r:id="rId19"/>
    </p:embeddedFont>
    <p:embeddedFont>
      <p:font typeface="Canva Sans" charset="1" panose="020B0503030501040103"/>
      <p:regular r:id="rId20"/>
    </p:embeddedFont>
    <p:embeddedFont>
      <p:font typeface="Montserrat" charset="1" panose="00000500000000000000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69" y="312303"/>
            <a:ext cx="5420232" cy="1547092"/>
          </a:xfrm>
          <a:custGeom>
            <a:avLst/>
            <a:gdLst/>
            <a:ahLst/>
            <a:cxnLst/>
            <a:rect r="r" b="b" t="t" l="l"/>
            <a:pathLst>
              <a:path h="1547092" w="5420232">
                <a:moveTo>
                  <a:pt x="0" y="0"/>
                </a:moveTo>
                <a:lnTo>
                  <a:pt x="5420232" y="0"/>
                </a:lnTo>
                <a:lnTo>
                  <a:pt x="5420232" y="1547092"/>
                </a:lnTo>
                <a:lnTo>
                  <a:pt x="0" y="1547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81238" y="2688070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378731"/>
            <a:ext cx="10237730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Évaluation multicritère des régions marocaines pour l’implantation durable des data centers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93308"/>
            <a:ext cx="574640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Pour l’anné 2022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036872"/>
            <a:ext cx="831979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Présenté par: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385487"/>
            <a:ext cx="831979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4B72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Daoudi Safiya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696517"/>
            <a:ext cx="3294208" cy="5271876"/>
            <a:chOff x="0" y="0"/>
            <a:chExt cx="988978" cy="1582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3146175" y="3991220"/>
            <a:ext cx="3005863" cy="4785400"/>
            <a:chOff x="0" y="0"/>
            <a:chExt cx="709992" cy="11303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13013" y="3099311"/>
            <a:ext cx="1672189" cy="16721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689F3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6896" y="3696517"/>
            <a:ext cx="3294208" cy="5271876"/>
            <a:chOff x="0" y="0"/>
            <a:chExt cx="988978" cy="1582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7641068" y="3991220"/>
            <a:ext cx="3005863" cy="4785400"/>
            <a:chOff x="0" y="0"/>
            <a:chExt cx="709992" cy="11303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07906" y="3099311"/>
            <a:ext cx="1672189" cy="167218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  <a:ln w="14287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91254" y="3696517"/>
            <a:ext cx="3294208" cy="5271876"/>
            <a:chOff x="0" y="0"/>
            <a:chExt cx="988978" cy="15827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2135426" y="3991220"/>
            <a:ext cx="3005863" cy="4785400"/>
            <a:chOff x="0" y="0"/>
            <a:chExt cx="709992" cy="11303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2264" y="3099311"/>
            <a:ext cx="1672189" cy="167218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DCEDC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184444" y="3470742"/>
            <a:ext cx="929327" cy="929327"/>
          </a:xfrm>
          <a:custGeom>
            <a:avLst/>
            <a:gdLst/>
            <a:ahLst/>
            <a:cxnLst/>
            <a:rect r="r" b="b" t="t" l="l"/>
            <a:pathLst>
              <a:path h="929327" w="929327">
                <a:moveTo>
                  <a:pt x="0" y="0"/>
                </a:moveTo>
                <a:lnTo>
                  <a:pt x="929326" y="0"/>
                </a:lnTo>
                <a:lnTo>
                  <a:pt x="929326" y="929327"/>
                </a:lnTo>
                <a:lnTo>
                  <a:pt x="0" y="929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713767" y="3505173"/>
            <a:ext cx="860466" cy="860466"/>
          </a:xfrm>
          <a:custGeom>
            <a:avLst/>
            <a:gdLst/>
            <a:ahLst/>
            <a:cxnLst/>
            <a:rect r="r" b="b" t="t" l="l"/>
            <a:pathLst>
              <a:path h="860466" w="860466">
                <a:moveTo>
                  <a:pt x="0" y="0"/>
                </a:moveTo>
                <a:lnTo>
                  <a:pt x="860466" y="0"/>
                </a:lnTo>
                <a:lnTo>
                  <a:pt x="860466" y="860466"/>
                </a:lnTo>
                <a:lnTo>
                  <a:pt x="0" y="8604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252819" y="3545266"/>
            <a:ext cx="780280" cy="780280"/>
          </a:xfrm>
          <a:custGeom>
            <a:avLst/>
            <a:gdLst/>
            <a:ahLst/>
            <a:cxnLst/>
            <a:rect r="r" b="b" t="t" l="l"/>
            <a:pathLst>
              <a:path h="780280" w="780280">
                <a:moveTo>
                  <a:pt x="0" y="0"/>
                </a:moveTo>
                <a:lnTo>
                  <a:pt x="780280" y="0"/>
                </a:lnTo>
                <a:lnTo>
                  <a:pt x="780280" y="780280"/>
                </a:lnTo>
                <a:lnTo>
                  <a:pt x="0" y="780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309360" y="1242407"/>
            <a:ext cx="766928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Contexte général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16502" y="5105517"/>
            <a:ext cx="2465209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Croissance du cloud, de l’IA et des services numériques → forte augmentation de la demande en data centers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11395" y="5105517"/>
            <a:ext cx="2465209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Forte consommation des data centers en électricité et en eau (refroidissement)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10354" y="5105517"/>
            <a:ext cx="2465209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Disparités régionales au Maroc + stress hydrique important dans certaines zones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5896" y="2010392"/>
            <a:ext cx="15057750" cy="1422958"/>
            <a:chOff x="0" y="0"/>
            <a:chExt cx="3138727" cy="296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8727" cy="296610"/>
            </a:xfrm>
            <a:custGeom>
              <a:avLst/>
              <a:gdLst/>
              <a:ahLst/>
              <a:cxnLst/>
              <a:rect r="r" b="b" t="t" l="l"/>
              <a:pathLst>
                <a:path h="296610" w="3138727">
                  <a:moveTo>
                    <a:pt x="32888" y="0"/>
                  </a:moveTo>
                  <a:lnTo>
                    <a:pt x="3105839" y="0"/>
                  </a:lnTo>
                  <a:cubicBezTo>
                    <a:pt x="3114561" y="0"/>
                    <a:pt x="3122926" y="3465"/>
                    <a:pt x="3129094" y="9633"/>
                  </a:cubicBezTo>
                  <a:cubicBezTo>
                    <a:pt x="3135262" y="15800"/>
                    <a:pt x="3138727" y="24165"/>
                    <a:pt x="3138727" y="32888"/>
                  </a:cubicBezTo>
                  <a:lnTo>
                    <a:pt x="3138727" y="263722"/>
                  </a:lnTo>
                  <a:cubicBezTo>
                    <a:pt x="3138727" y="272444"/>
                    <a:pt x="3135262" y="280810"/>
                    <a:pt x="3129094" y="286977"/>
                  </a:cubicBezTo>
                  <a:cubicBezTo>
                    <a:pt x="3122926" y="293145"/>
                    <a:pt x="3114561" y="296610"/>
                    <a:pt x="3105839" y="296610"/>
                  </a:cubicBezTo>
                  <a:lnTo>
                    <a:pt x="32888" y="296610"/>
                  </a:lnTo>
                  <a:cubicBezTo>
                    <a:pt x="24165" y="296610"/>
                    <a:pt x="15800" y="293145"/>
                    <a:pt x="9633" y="286977"/>
                  </a:cubicBezTo>
                  <a:cubicBezTo>
                    <a:pt x="3465" y="280810"/>
                    <a:pt x="0" y="272444"/>
                    <a:pt x="0" y="263722"/>
                  </a:cubicBezTo>
                  <a:lnTo>
                    <a:pt x="0" y="32888"/>
                  </a:lnTo>
                  <a:cubicBezTo>
                    <a:pt x="0" y="24165"/>
                    <a:pt x="3465" y="15800"/>
                    <a:pt x="9633" y="9633"/>
                  </a:cubicBezTo>
                  <a:cubicBezTo>
                    <a:pt x="15800" y="3465"/>
                    <a:pt x="24165" y="0"/>
                    <a:pt x="32888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38727" cy="33471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1B1B1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Comment identifier les régions marocaines les plus adaptées à l’implantation durable de data centers 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75896" y="5143500"/>
            <a:ext cx="15121633" cy="3085182"/>
            <a:chOff x="0" y="0"/>
            <a:chExt cx="3152043" cy="6430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52043" cy="643094"/>
            </a:xfrm>
            <a:custGeom>
              <a:avLst/>
              <a:gdLst/>
              <a:ahLst/>
              <a:cxnLst/>
              <a:rect r="r" b="b" t="t" l="l"/>
              <a:pathLst>
                <a:path h="643094" w="3152043">
                  <a:moveTo>
                    <a:pt x="32749" y="0"/>
                  </a:moveTo>
                  <a:lnTo>
                    <a:pt x="3119294" y="0"/>
                  </a:lnTo>
                  <a:cubicBezTo>
                    <a:pt x="3137381" y="0"/>
                    <a:pt x="3152043" y="14662"/>
                    <a:pt x="3152043" y="32749"/>
                  </a:cubicBezTo>
                  <a:lnTo>
                    <a:pt x="3152043" y="610345"/>
                  </a:lnTo>
                  <a:cubicBezTo>
                    <a:pt x="3152043" y="619030"/>
                    <a:pt x="3148593" y="627360"/>
                    <a:pt x="3142451" y="633502"/>
                  </a:cubicBezTo>
                  <a:cubicBezTo>
                    <a:pt x="3136309" y="639643"/>
                    <a:pt x="3127980" y="643094"/>
                    <a:pt x="3119294" y="643094"/>
                  </a:cubicBezTo>
                  <a:lnTo>
                    <a:pt x="32749" y="643094"/>
                  </a:lnTo>
                  <a:cubicBezTo>
                    <a:pt x="24063" y="643094"/>
                    <a:pt x="15733" y="639643"/>
                    <a:pt x="9592" y="633502"/>
                  </a:cubicBezTo>
                  <a:cubicBezTo>
                    <a:pt x="3450" y="627360"/>
                    <a:pt x="0" y="619030"/>
                    <a:pt x="0" y="610345"/>
                  </a:cubicBezTo>
                  <a:lnTo>
                    <a:pt x="0" y="32749"/>
                  </a:lnTo>
                  <a:cubicBezTo>
                    <a:pt x="0" y="24063"/>
                    <a:pt x="3450" y="15733"/>
                    <a:pt x="9592" y="9592"/>
                  </a:cubicBezTo>
                  <a:cubicBezTo>
                    <a:pt x="15733" y="3450"/>
                    <a:pt x="24063" y="0"/>
                    <a:pt x="32749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52043" cy="68119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just" marL="518154" indent="-259077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Collecter et intégrer des données eau, énergie, économie et climat</a:t>
              </a:r>
            </a:p>
            <a:p>
              <a:pPr algn="just" marL="518154" indent="-259077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Construire des indicateurs clés (eau par habitant, énergie, PIB, stress hydrique, etc.)</a:t>
              </a:r>
            </a:p>
            <a:p>
              <a:pPr algn="just" marL="518154" indent="-259077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Développer des scores normalisés par dimension (eau, énergie, économie)</a:t>
              </a:r>
            </a:p>
            <a:p>
              <a:pPr algn="just" marL="518154" indent="-259077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Concevoir un indice global DCSI pour comparer les régions</a:t>
              </a:r>
            </a:p>
            <a:p>
              <a:pPr algn="just" marL="518154" indent="-259077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Visualiser et analyser les résultats via un dashboard Power BI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75896" y="794578"/>
            <a:ext cx="1104515" cy="1104515"/>
          </a:xfrm>
          <a:custGeom>
            <a:avLst/>
            <a:gdLst/>
            <a:ahLst/>
            <a:cxnLst/>
            <a:rect r="r" b="b" t="t" l="l"/>
            <a:pathLst>
              <a:path h="1104515" w="1104515">
                <a:moveTo>
                  <a:pt x="0" y="0"/>
                </a:moveTo>
                <a:lnTo>
                  <a:pt x="1104514" y="0"/>
                </a:lnTo>
                <a:lnTo>
                  <a:pt x="1104514" y="1104514"/>
                </a:lnTo>
                <a:lnTo>
                  <a:pt x="0" y="110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5896" y="3781810"/>
            <a:ext cx="1104515" cy="1104515"/>
          </a:xfrm>
          <a:custGeom>
            <a:avLst/>
            <a:gdLst/>
            <a:ahLst/>
            <a:cxnLst/>
            <a:rect r="r" b="b" t="t" l="l"/>
            <a:pathLst>
              <a:path h="1104515" w="1104515">
                <a:moveTo>
                  <a:pt x="0" y="0"/>
                </a:moveTo>
                <a:lnTo>
                  <a:pt x="1104514" y="0"/>
                </a:lnTo>
                <a:lnTo>
                  <a:pt x="1104514" y="1104515"/>
                </a:lnTo>
                <a:lnTo>
                  <a:pt x="0" y="11045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24456" y="952500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Problématique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24456" y="3894090"/>
            <a:ext cx="787646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Objectifs spécifiques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5952" y="2312489"/>
            <a:ext cx="7495183" cy="6945811"/>
            <a:chOff x="0" y="0"/>
            <a:chExt cx="1404854" cy="1301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854" cy="1301882"/>
            </a:xfrm>
            <a:custGeom>
              <a:avLst/>
              <a:gdLst/>
              <a:ahLst/>
              <a:cxnLst/>
              <a:rect r="r" b="b" t="t" l="l"/>
              <a:pathLst>
                <a:path h="1301882" w="1404854">
                  <a:moveTo>
                    <a:pt x="0" y="0"/>
                  </a:moveTo>
                  <a:lnTo>
                    <a:pt x="1404854" y="0"/>
                  </a:lnTo>
                  <a:lnTo>
                    <a:pt x="1404854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04854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5836" y="1954877"/>
            <a:ext cx="7495183" cy="6945811"/>
            <a:chOff x="0" y="0"/>
            <a:chExt cx="1404854" cy="1301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4854" cy="1301882"/>
            </a:xfrm>
            <a:custGeom>
              <a:avLst/>
              <a:gdLst/>
              <a:ahLst/>
              <a:cxnLst/>
              <a:rect r="r" b="b" t="t" l="l"/>
              <a:pathLst>
                <a:path h="1301882" w="1404854">
                  <a:moveTo>
                    <a:pt x="0" y="0"/>
                  </a:moveTo>
                  <a:lnTo>
                    <a:pt x="1404854" y="0"/>
                  </a:lnTo>
                  <a:lnTo>
                    <a:pt x="1404854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04854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34946" y="2312489"/>
            <a:ext cx="7767428" cy="6945811"/>
            <a:chOff x="0" y="0"/>
            <a:chExt cx="1455882" cy="1301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5882" cy="1301882"/>
            </a:xfrm>
            <a:custGeom>
              <a:avLst/>
              <a:gdLst/>
              <a:ahLst/>
              <a:cxnLst/>
              <a:rect r="r" b="b" t="t" l="l"/>
              <a:pathLst>
                <a:path h="1301882" w="1455882">
                  <a:moveTo>
                    <a:pt x="0" y="0"/>
                  </a:moveTo>
                  <a:lnTo>
                    <a:pt x="1455882" y="0"/>
                  </a:lnTo>
                  <a:lnTo>
                    <a:pt x="1455882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55882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92306" y="1954877"/>
            <a:ext cx="7767428" cy="6945811"/>
            <a:chOff x="0" y="0"/>
            <a:chExt cx="1455882" cy="13018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5882" cy="1301882"/>
            </a:xfrm>
            <a:custGeom>
              <a:avLst/>
              <a:gdLst/>
              <a:ahLst/>
              <a:cxnLst/>
              <a:rect r="r" b="b" t="t" l="l"/>
              <a:pathLst>
                <a:path h="1301882" w="1455882">
                  <a:moveTo>
                    <a:pt x="0" y="0"/>
                  </a:moveTo>
                  <a:lnTo>
                    <a:pt x="1455882" y="0"/>
                  </a:lnTo>
                  <a:lnTo>
                    <a:pt x="1455882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55882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16528583" y="8559934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2"/>
                </a:moveTo>
                <a:lnTo>
                  <a:pt x="2147582" y="2128512"/>
                </a:lnTo>
                <a:lnTo>
                  <a:pt x="2147582" y="0"/>
                </a:lnTo>
                <a:lnTo>
                  <a:pt x="0" y="0"/>
                </a:lnTo>
                <a:lnTo>
                  <a:pt x="0" y="2128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884228" y="843456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952" y="2245814"/>
            <a:ext cx="6417230" cy="117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sz="3363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Annuaire Statistique du Maroc 2024 (HCP)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5952" y="3577068"/>
            <a:ext cx="6417230" cy="503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461" indent="-311230" lvl="1">
              <a:lnSpc>
                <a:spcPts val="4036"/>
              </a:lnSpc>
              <a:buFont typeface="Arial"/>
              <a:buChar char="•"/>
            </a:pPr>
            <a:r>
              <a:rPr lang="en-US" sz="288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Source officielle du Haut-Commissariat au Plan</a:t>
            </a:r>
          </a:p>
          <a:p>
            <a:pPr algn="l" marL="622461" indent="-311230" lvl="1">
              <a:lnSpc>
                <a:spcPts val="4036"/>
              </a:lnSpc>
              <a:buFont typeface="Arial"/>
              <a:buChar char="•"/>
            </a:pPr>
            <a:r>
              <a:rPr lang="en-US" sz="288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Données socio-économiques par région</a:t>
            </a:r>
          </a:p>
          <a:p>
            <a:pPr algn="l" marL="622461" indent="-311230" lvl="1">
              <a:lnSpc>
                <a:spcPts val="4036"/>
              </a:lnSpc>
              <a:buFont typeface="Arial"/>
              <a:buChar char="•"/>
            </a:pPr>
            <a:r>
              <a:rPr lang="en-US" sz="288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Contient : population, PIB, énergie, eau</a:t>
            </a:r>
          </a:p>
          <a:p>
            <a:pPr algn="l" marL="622461" indent="-311230" lvl="1">
              <a:lnSpc>
                <a:spcPts val="4036"/>
              </a:lnSpc>
              <a:buFont typeface="Arial"/>
              <a:buChar char="•"/>
            </a:pPr>
            <a:r>
              <a:rPr lang="en-US" sz="288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Utilisé pour analyser les caractéristiques régionales du Maroc</a:t>
            </a:r>
          </a:p>
          <a:p>
            <a:pPr algn="l">
              <a:lnSpc>
                <a:spcPts val="4036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750859" y="2245814"/>
            <a:ext cx="6650321" cy="5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sz="3363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Water Efficiency Dataset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4946" y="3577068"/>
            <a:ext cx="6026095" cy="452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461" indent="-311230" lvl="1">
              <a:lnSpc>
                <a:spcPts val="4036"/>
              </a:lnSpc>
              <a:buFont typeface="Arial"/>
              <a:buChar char="•"/>
            </a:pPr>
            <a:r>
              <a:rPr lang="en-US" sz="288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Dataset international sur l’efficacité eau–énergie</a:t>
            </a:r>
          </a:p>
          <a:p>
            <a:pPr algn="l" marL="622461" indent="-311230" lvl="1">
              <a:lnSpc>
                <a:spcPts val="4036"/>
              </a:lnSpc>
              <a:buFont typeface="Arial"/>
              <a:buChar char="•"/>
            </a:pPr>
            <a:r>
              <a:rPr lang="en-US" sz="288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Variables climatiques : température, humidité, wet bulb</a:t>
            </a:r>
          </a:p>
          <a:p>
            <a:pPr algn="l" marL="622461" indent="-311230" lvl="1">
              <a:lnSpc>
                <a:spcPts val="4036"/>
              </a:lnSpc>
              <a:buFont typeface="Arial"/>
              <a:buChar char="•"/>
            </a:pPr>
            <a:r>
              <a:rPr lang="en-US" sz="288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Données énergétiques : consommation et production</a:t>
            </a:r>
          </a:p>
          <a:p>
            <a:pPr algn="l" marL="622461" indent="-311230" lvl="1">
              <a:lnSpc>
                <a:spcPts val="4036"/>
              </a:lnSpc>
              <a:buFont typeface="Arial"/>
              <a:buChar char="•"/>
            </a:pPr>
            <a:r>
              <a:rPr lang="en-US" sz="288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Utilisé pour évaluer le Cooling Index et l’efficacité hydrique</a:t>
            </a:r>
          </a:p>
          <a:p>
            <a:pPr algn="l">
              <a:lnSpc>
                <a:spcPts val="4036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7711" y="3509687"/>
            <a:ext cx="5051303" cy="5405090"/>
          </a:xfrm>
          <a:custGeom>
            <a:avLst/>
            <a:gdLst/>
            <a:ahLst/>
            <a:cxnLst/>
            <a:rect r="r" b="b" t="t" l="l"/>
            <a:pathLst>
              <a:path h="5405090" w="5051303">
                <a:moveTo>
                  <a:pt x="0" y="0"/>
                </a:moveTo>
                <a:lnTo>
                  <a:pt x="5051303" y="0"/>
                </a:lnTo>
                <a:lnTo>
                  <a:pt x="5051303" y="5405090"/>
                </a:lnTo>
                <a:lnTo>
                  <a:pt x="0" y="540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22676" y="8441453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2" y="0"/>
                </a:lnTo>
                <a:lnTo>
                  <a:pt x="43107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72096" y="3643258"/>
            <a:ext cx="1310526" cy="1310526"/>
          </a:xfrm>
          <a:custGeom>
            <a:avLst/>
            <a:gdLst/>
            <a:ahLst/>
            <a:cxnLst/>
            <a:rect r="r" b="b" t="t" l="l"/>
            <a:pathLst>
              <a:path h="1310526" w="1310526">
                <a:moveTo>
                  <a:pt x="0" y="0"/>
                </a:moveTo>
                <a:lnTo>
                  <a:pt x="1310526" y="0"/>
                </a:lnTo>
                <a:lnTo>
                  <a:pt x="1310526" y="1310526"/>
                </a:lnTo>
                <a:lnTo>
                  <a:pt x="0" y="13105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38254" y="4946765"/>
            <a:ext cx="1265467" cy="1265467"/>
          </a:xfrm>
          <a:custGeom>
            <a:avLst/>
            <a:gdLst/>
            <a:ahLst/>
            <a:cxnLst/>
            <a:rect r="r" b="b" t="t" l="l"/>
            <a:pathLst>
              <a:path h="1265467" w="1265467">
                <a:moveTo>
                  <a:pt x="0" y="0"/>
                </a:moveTo>
                <a:lnTo>
                  <a:pt x="1265467" y="0"/>
                </a:lnTo>
                <a:lnTo>
                  <a:pt x="1265467" y="1265467"/>
                </a:lnTo>
                <a:lnTo>
                  <a:pt x="0" y="12654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59027" y="6346302"/>
            <a:ext cx="1136664" cy="1098358"/>
          </a:xfrm>
          <a:custGeom>
            <a:avLst/>
            <a:gdLst/>
            <a:ahLst/>
            <a:cxnLst/>
            <a:rect r="r" b="b" t="t" l="l"/>
            <a:pathLst>
              <a:path h="1098358" w="1136664">
                <a:moveTo>
                  <a:pt x="0" y="0"/>
                </a:moveTo>
                <a:lnTo>
                  <a:pt x="1136664" y="0"/>
                </a:lnTo>
                <a:lnTo>
                  <a:pt x="1136664" y="1098358"/>
                </a:lnTo>
                <a:lnTo>
                  <a:pt x="0" y="10983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487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06457" y="7587552"/>
            <a:ext cx="1129062" cy="1129062"/>
          </a:xfrm>
          <a:custGeom>
            <a:avLst/>
            <a:gdLst/>
            <a:ahLst/>
            <a:cxnLst/>
            <a:rect r="r" b="b" t="t" l="l"/>
            <a:pathLst>
              <a:path h="1129062" w="1129062">
                <a:moveTo>
                  <a:pt x="0" y="0"/>
                </a:moveTo>
                <a:lnTo>
                  <a:pt x="1129061" y="0"/>
                </a:lnTo>
                <a:lnTo>
                  <a:pt x="1129061" y="1129062"/>
                </a:lnTo>
                <a:lnTo>
                  <a:pt x="0" y="11290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42503" y="1406567"/>
            <a:ext cx="9402994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Préparation &amp; Analyse des données pipline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4652" y="4915684"/>
            <a:ext cx="4700009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Nettoyage, structuration et sauvegarde des données au format CSV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4652" y="7583440"/>
            <a:ext cx="4700009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Création de visualisations interactives sous Power BI (5 pages)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83339" y="3559465"/>
            <a:ext cx="573101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Extraction des données utiles à partir des fichiers Excel (énergie, eau, population, comptes nationaux)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83339" y="6512576"/>
            <a:ext cx="491686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Calcul des KPI (eau, énergie, économie, climat)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8520" y="2499888"/>
            <a:ext cx="16660746" cy="935549"/>
            <a:chOff x="0" y="0"/>
            <a:chExt cx="5001843" cy="2808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1843" cy="280868"/>
            </a:xfrm>
            <a:custGeom>
              <a:avLst/>
              <a:gdLst/>
              <a:ahLst/>
              <a:cxnLst/>
              <a:rect r="r" b="b" t="t" l="l"/>
              <a:pathLst>
                <a:path h="280868" w="5001843">
                  <a:moveTo>
                    <a:pt x="0" y="0"/>
                  </a:moveTo>
                  <a:lnTo>
                    <a:pt x="5001843" y="0"/>
                  </a:lnTo>
                  <a:lnTo>
                    <a:pt x="5001843" y="280868"/>
                  </a:lnTo>
                  <a:lnTo>
                    <a:pt x="0" y="280868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01843" cy="33801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3639"/>
                </a:lnSpc>
              </a:pPr>
              <a:r>
                <a:rPr lang="en-US" sz="25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       Composant                           Poids                                                           Description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8520" y="3434983"/>
            <a:ext cx="16660746" cy="5152997"/>
            <a:chOff x="0" y="0"/>
            <a:chExt cx="5001843" cy="15470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1843" cy="1547018"/>
            </a:xfrm>
            <a:custGeom>
              <a:avLst/>
              <a:gdLst/>
              <a:ahLst/>
              <a:cxnLst/>
              <a:rect r="r" b="b" t="t" l="l"/>
              <a:pathLst>
                <a:path h="1547018" w="5001843">
                  <a:moveTo>
                    <a:pt x="0" y="0"/>
                  </a:moveTo>
                  <a:lnTo>
                    <a:pt x="5001843" y="0"/>
                  </a:lnTo>
                  <a:lnTo>
                    <a:pt x="5001843" y="1547018"/>
                  </a:lnTo>
                  <a:lnTo>
                    <a:pt x="0" y="1547018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01843" cy="158511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l">
                <a:lnSpc>
                  <a:spcPts val="2659"/>
                </a:lnSpc>
              </a:pPr>
            </a:p>
            <a:p>
              <a:pPr algn="just">
                <a:lnSpc>
                  <a:spcPts val="2659"/>
                </a:lnSpc>
              </a:pPr>
            </a:p>
            <a:p>
              <a:pPr algn="just">
                <a:lnSpc>
                  <a:spcPts val="2659"/>
                </a:lnSpc>
              </a:pPr>
            </a:p>
            <a:p>
              <a:pPr algn="just">
                <a:lnSpc>
                  <a:spcPts val="2659"/>
                </a:lnSpc>
              </a:pPr>
            </a:p>
            <a:p>
              <a:pPr algn="just">
                <a:lnSpc>
                  <a:spcPts val="2659"/>
                </a:lnSpc>
              </a:pPr>
            </a:p>
            <a:p>
              <a:pPr algn="just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94195" y="777768"/>
            <a:ext cx="11269395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Composition du DCSI (Data Center Suitability Index)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16397529" y="8347556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2638920"/>
                </a:moveTo>
                <a:lnTo>
                  <a:pt x="3230536" y="2638920"/>
                </a:lnTo>
                <a:lnTo>
                  <a:pt x="3230536" y="0"/>
                </a:lnTo>
                <a:lnTo>
                  <a:pt x="0" y="0"/>
                </a:lnTo>
                <a:lnTo>
                  <a:pt x="0" y="26389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43230" y="-408495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598520" y="4385503"/>
            <a:ext cx="166607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598520" y="5483018"/>
            <a:ext cx="166607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98520" y="6514743"/>
            <a:ext cx="166607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598520" y="7589559"/>
            <a:ext cx="16660746" cy="228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5473050" y="2499888"/>
            <a:ext cx="0" cy="60880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7394077" y="2499888"/>
            <a:ext cx="0" cy="60880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754446" y="3683088"/>
            <a:ext cx="5639694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💧 Score_Eau                               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0.25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4881" y="4708317"/>
            <a:ext cx="585502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⚡ Score_Energie                         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0.25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6415" y="5806868"/>
            <a:ext cx="6183490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💰Score_Economie                        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0.20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8520" y="6819543"/>
            <a:ext cx="6795586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🚨 Stress_Hydrique_Normalisé           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0.15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9115" y="7879090"/>
            <a:ext cx="585502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❄️ Cooling_Index                         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0.15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79905" y="3683088"/>
            <a:ext cx="9865160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Basé su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r : eau disponible + efficacité d’utilisation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94140" y="4708317"/>
            <a:ext cx="9865160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Basé su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r : énergie par habitant + part renouvelable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94140" y="5806868"/>
            <a:ext cx="9865160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Basé su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r : PIB + industrie + secteur tech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94140" y="6819543"/>
            <a:ext cx="9865160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Basé sur : population / eau disponible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94140" y="7879090"/>
            <a:ext cx="9865160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 Basé su</a:t>
            </a:r>
            <a:r>
              <a:rPr lang="en-US" sz="2499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r : température, humidité, wet bulb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5020" y="1028700"/>
            <a:ext cx="14597960" cy="8229600"/>
          </a:xfrm>
          <a:custGeom>
            <a:avLst/>
            <a:gdLst/>
            <a:ahLst/>
            <a:cxnLst/>
            <a:rect r="r" b="b" t="t" l="l"/>
            <a:pathLst>
              <a:path h="8229600" w="1459796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1" t="0" r="-171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5020" y="1028700"/>
            <a:ext cx="14597960" cy="8229600"/>
          </a:xfrm>
          <a:custGeom>
            <a:avLst/>
            <a:gdLst/>
            <a:ahLst/>
            <a:cxnLst/>
            <a:rect r="r" b="b" t="t" l="l"/>
            <a:pathLst>
              <a:path h="8229600" w="1459796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1" t="0" r="-171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5020" y="1028700"/>
            <a:ext cx="14597960" cy="8229600"/>
          </a:xfrm>
          <a:custGeom>
            <a:avLst/>
            <a:gdLst/>
            <a:ahLst/>
            <a:cxnLst/>
            <a:rect r="r" b="b" t="t" l="l"/>
            <a:pathLst>
              <a:path h="8229600" w="1459796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" t="0" r="-1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5020" y="1028700"/>
            <a:ext cx="14597960" cy="8229600"/>
          </a:xfrm>
          <a:custGeom>
            <a:avLst/>
            <a:gdLst/>
            <a:ahLst/>
            <a:cxnLst/>
            <a:rect r="r" b="b" t="t" l="l"/>
            <a:pathLst>
              <a:path h="8229600" w="1459796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4" t="0" r="-334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5020" y="1028700"/>
            <a:ext cx="14597960" cy="8229600"/>
          </a:xfrm>
          <a:custGeom>
            <a:avLst/>
            <a:gdLst/>
            <a:ahLst/>
            <a:cxnLst/>
            <a:rect r="r" b="b" t="t" l="l"/>
            <a:pathLst>
              <a:path h="8229600" w="1459796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7328" y="3659848"/>
            <a:ext cx="10544482" cy="2308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6599" b="true">
                <a:solidFill>
                  <a:srgbClr val="4B72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Merci pour votre attention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43960" y="8717914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6528583" y="-809906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9769" y="312303"/>
            <a:ext cx="5420232" cy="1547092"/>
          </a:xfrm>
          <a:custGeom>
            <a:avLst/>
            <a:gdLst/>
            <a:ahLst/>
            <a:cxnLst/>
            <a:rect r="r" b="b" t="t" l="l"/>
            <a:pathLst>
              <a:path h="1547092" w="5420232">
                <a:moveTo>
                  <a:pt x="0" y="0"/>
                </a:moveTo>
                <a:lnTo>
                  <a:pt x="5420232" y="0"/>
                </a:lnTo>
                <a:lnTo>
                  <a:pt x="5420232" y="1547092"/>
                </a:lnTo>
                <a:lnTo>
                  <a:pt x="0" y="15470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DAHGrUtfIrY</dc:identifier>
  <dcterms:modified xsi:type="dcterms:W3CDTF">2011-08-01T06:04:30Z</dcterms:modified>
  <cp:revision>1</cp:revision>
  <dc:title>Data-Driven Infographic Roadmap Presentation</dc:title>
</cp:coreProperties>
</file>